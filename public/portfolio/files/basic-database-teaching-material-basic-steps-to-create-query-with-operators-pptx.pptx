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2" r:id="rId1"/>
  </p:sldMasterIdLst>
  <p:sldIdLst>
    <p:sldId id="256" r:id="rId2"/>
    <p:sldId id="257" r:id="rId3"/>
    <p:sldId id="273" r:id="rId4"/>
    <p:sldId id="259" r:id="rId5"/>
    <p:sldId id="260" r:id="rId6"/>
    <p:sldId id="274" r:id="rId7"/>
    <p:sldId id="261" r:id="rId8"/>
    <p:sldId id="262" r:id="rId9"/>
    <p:sldId id="275" r:id="rId10"/>
    <p:sldId id="271" r:id="rId11"/>
    <p:sldId id="272" r:id="rId12"/>
    <p:sldId id="276" r:id="rId13"/>
    <p:sldId id="277" r:id="rId14"/>
    <p:sldId id="278" r:id="rId15"/>
    <p:sldId id="280" r:id="rId16"/>
    <p:sldId id="279" r:id="rId17"/>
    <p:sldId id="281" r:id="rId18"/>
    <p:sldId id="282" r:id="rId19"/>
    <p:sldId id="283" r:id="rId20"/>
    <p:sldId id="284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9700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50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301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21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227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69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945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5902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7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38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088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204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11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347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305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564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1843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39990AC-CC7E-4CA3-BC1C-C01B125DD5C3}" type="datetimeFigureOut">
              <a:rPr lang="en-US" smtClean="0"/>
              <a:t>21-Aug-17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FAFA741-472A-4F6C-951E-FF69356C8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04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USING MICROSOFT ACCESS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7" y="4109418"/>
            <a:ext cx="6815669" cy="613189"/>
          </a:xfrm>
        </p:spPr>
        <p:txBody>
          <a:bodyPr>
            <a:normAutofit fontScale="92500"/>
          </a:bodyPr>
          <a:lstStyle/>
          <a:p>
            <a:r>
              <a:rPr lang="en-US" sz="3200" dirty="0" smtClean="0"/>
              <a:t>Create Queries By Using Logical Operators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2749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21781" y="817578"/>
            <a:ext cx="6815669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>
                <a:latin typeface="Calibri" panose="020F0502020204030204" pitchFamily="34" charset="0"/>
              </a:rPr>
              <a:t>What is operators in Microsoft Access?</a:t>
            </a:r>
            <a:endParaRPr lang="en-US" sz="3200" dirty="0">
              <a:latin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21781" y="1622628"/>
            <a:ext cx="98510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 smtClean="0">
                <a:latin typeface="Calibri" panose="020F0502020204030204" pitchFamily="34" charset="0"/>
              </a:rPr>
              <a:t>Operators</a:t>
            </a:r>
            <a:r>
              <a:rPr lang="en-US" sz="2000" dirty="0" smtClean="0">
                <a:latin typeface="Calibri" panose="020F0502020204030204" pitchFamily="34" charset="0"/>
              </a:rPr>
              <a:t> are used in </a:t>
            </a:r>
            <a:r>
              <a:rPr lang="en-US" sz="2000" b="1" dirty="0">
                <a:latin typeface="Calibri" panose="020F0502020204030204" pitchFamily="34" charset="0"/>
              </a:rPr>
              <a:t>Access</a:t>
            </a:r>
            <a:r>
              <a:rPr lang="en-US" sz="2000" dirty="0">
                <a:latin typeface="Calibri" panose="020F0502020204030204" pitchFamily="34" charset="0"/>
              </a:rPr>
              <a:t> expressions </a:t>
            </a:r>
            <a:r>
              <a:rPr lang="en-US" sz="2000" dirty="0" smtClean="0">
                <a:latin typeface="Calibri" panose="020F0502020204030204" pitchFamily="34" charset="0"/>
              </a:rPr>
              <a:t>to </a:t>
            </a:r>
            <a:r>
              <a:rPr lang="en-US" sz="2000" dirty="0">
                <a:latin typeface="Calibri" panose="020F0502020204030204" pitchFamily="34" charset="0"/>
              </a:rPr>
              <a:t>specify what kind of operation to perform, such as add, multiply, compare, or </a:t>
            </a:r>
            <a:r>
              <a:rPr lang="en-US" sz="2000" dirty="0" smtClean="0">
                <a:latin typeface="Calibri" panose="020F0502020204030204" pitchFamily="34" charset="0"/>
              </a:rPr>
              <a:t>concatenate</a:t>
            </a:r>
            <a:endParaRPr lang="en-US" sz="2000" dirty="0"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354345"/>
              </p:ext>
            </p:extLst>
          </p:nvPr>
        </p:nvGraphicFramePr>
        <p:xfrm>
          <a:off x="1789653" y="2656043"/>
          <a:ext cx="8828208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2818"/>
                <a:gridCol w="685539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Logical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Operator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Meaning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AND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Display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result if both conditions are TRUE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OR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Display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result if either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one of the conditions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is 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NOT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Display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result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if the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given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conditions is FALSE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(Not TRUE)</a:t>
                      </a:r>
                      <a:endParaRPr lang="en-US" sz="2000" dirty="0" smtClean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TRUE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Display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result if the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given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conditions is 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FALSE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Display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result if the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given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conditions is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LIKE</a:t>
                      </a:r>
                      <a:endParaRPr lang="en-US" sz="2000" dirty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Display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result if the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given </a:t>
                      </a:r>
                      <a:r>
                        <a:rPr lang="en-US" sz="2000" dirty="0" smtClean="0">
                          <a:latin typeface="Calibri" panose="020F0502020204030204" pitchFamily="34" charset="0"/>
                        </a:rPr>
                        <a:t>conditions is ALMOST</a:t>
                      </a:r>
                      <a:r>
                        <a:rPr lang="en-US" sz="2000" baseline="0" dirty="0" smtClean="0">
                          <a:latin typeface="Calibri" panose="020F0502020204030204" pitchFamily="34" charset="0"/>
                        </a:rPr>
                        <a:t> ALIKE</a:t>
                      </a:r>
                      <a:endParaRPr lang="en-US" sz="2000" dirty="0" smtClean="0">
                        <a:latin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88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21781" y="817578"/>
            <a:ext cx="6815669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>
                <a:latin typeface="Calibri" panose="020F0502020204030204" pitchFamily="34" charset="0"/>
              </a:rPr>
              <a:t>What is operators in Microsoft Access?</a:t>
            </a:r>
            <a:endParaRPr lang="en-US" sz="3200" dirty="0">
              <a:latin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21781" y="1622628"/>
            <a:ext cx="98510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 smtClean="0">
                <a:latin typeface="Calibri" panose="020F0502020204030204" pitchFamily="34" charset="0"/>
              </a:rPr>
              <a:t>Operators</a:t>
            </a:r>
            <a:r>
              <a:rPr lang="en-US" sz="2000" dirty="0" smtClean="0">
                <a:latin typeface="Calibri" panose="020F0502020204030204" pitchFamily="34" charset="0"/>
              </a:rPr>
              <a:t> are used in </a:t>
            </a:r>
            <a:r>
              <a:rPr lang="en-US" sz="2000" b="1" dirty="0">
                <a:latin typeface="Calibri" panose="020F0502020204030204" pitchFamily="34" charset="0"/>
              </a:rPr>
              <a:t>Access</a:t>
            </a:r>
            <a:r>
              <a:rPr lang="en-US" sz="2000" dirty="0">
                <a:latin typeface="Calibri" panose="020F0502020204030204" pitchFamily="34" charset="0"/>
              </a:rPr>
              <a:t> expressions </a:t>
            </a:r>
            <a:r>
              <a:rPr lang="en-US" sz="2000" dirty="0" smtClean="0">
                <a:latin typeface="Calibri" panose="020F0502020204030204" pitchFamily="34" charset="0"/>
              </a:rPr>
              <a:t>to </a:t>
            </a:r>
            <a:r>
              <a:rPr lang="en-US" sz="2000" dirty="0">
                <a:latin typeface="Calibri" panose="020F0502020204030204" pitchFamily="34" charset="0"/>
              </a:rPr>
              <a:t>specify what kind of operation to perform, such as add, multiply, compare, or </a:t>
            </a:r>
            <a:r>
              <a:rPr lang="en-US" sz="2000" dirty="0" smtClean="0">
                <a:latin typeface="Calibri" panose="020F0502020204030204" pitchFamily="34" charset="0"/>
              </a:rPr>
              <a:t>concatenate</a:t>
            </a:r>
            <a:endParaRPr lang="en-US" sz="2000" dirty="0">
              <a:latin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172" y="2608435"/>
            <a:ext cx="8097751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03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220" y="2103680"/>
            <a:ext cx="4297680" cy="182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551" y="2103680"/>
            <a:ext cx="4092669" cy="2377440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272388" y="1366218"/>
            <a:ext cx="6815669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 smtClean="0"/>
              <a:t>Database Name: </a:t>
            </a:r>
            <a:r>
              <a:rPr lang="en-US" sz="3200" b="1" dirty="0" smtClean="0"/>
              <a:t>Book-Loan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640562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240114" y="882124"/>
            <a:ext cx="9420713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female</a:t>
            </a:r>
            <a:r>
              <a:rPr lang="en-US" sz="3200" dirty="0" smtClean="0">
                <a:latin typeface="Calibri" panose="020F0502020204030204" pitchFamily="34" charset="0"/>
              </a:rPr>
              <a:t> customers from </a:t>
            </a:r>
            <a:r>
              <a:rPr lang="en-US" sz="3200" i="1" dirty="0" err="1" smtClean="0">
                <a:latin typeface="Calibri" panose="020F0502020204030204" pitchFamily="34" charset="0"/>
              </a:rPr>
              <a:t>Tutong</a:t>
            </a:r>
            <a:r>
              <a:rPr lang="en-US" sz="3200" dirty="0" smtClean="0">
                <a:latin typeface="Calibri" panose="020F0502020204030204" pitchFamily="34" charset="0"/>
              </a:rPr>
              <a:t> District</a:t>
            </a:r>
            <a:endParaRPr lang="en-US" sz="3200" b="1" dirty="0">
              <a:latin typeface="Calibri" panose="020F050202020403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240114" y="1667436"/>
            <a:ext cx="9700413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i="1" dirty="0" smtClean="0">
                <a:latin typeface="Calibri" panose="020F0502020204030204" pitchFamily="34" charset="0"/>
              </a:rPr>
              <a:t>Female</a:t>
            </a:r>
            <a:r>
              <a:rPr lang="en-US" sz="3200" dirty="0" smtClean="0">
                <a:latin typeface="Calibri" panose="020F0502020204030204" pitchFamily="34" charset="0"/>
              </a:rPr>
              <a:t> Gender AND </a:t>
            </a:r>
            <a:r>
              <a:rPr lang="en-US" sz="3200" i="1" dirty="0" err="1" smtClean="0">
                <a:latin typeface="Calibri" panose="020F0502020204030204" pitchFamily="34" charset="0"/>
              </a:rPr>
              <a:t>Tutong</a:t>
            </a:r>
            <a:r>
              <a:rPr lang="en-US" sz="3200" dirty="0" smtClean="0">
                <a:latin typeface="Calibri" panose="020F0502020204030204" pitchFamily="34" charset="0"/>
              </a:rPr>
              <a:t> District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341" y="2452748"/>
            <a:ext cx="2743200" cy="36576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678659" y="4098663"/>
            <a:ext cx="2334409" cy="2581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678659" y="4659854"/>
            <a:ext cx="2334409" cy="2581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859" y="2452748"/>
            <a:ext cx="46684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2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240114" y="882124"/>
            <a:ext cx="9420713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female</a:t>
            </a:r>
            <a:r>
              <a:rPr lang="en-US" sz="3200" dirty="0" smtClean="0">
                <a:latin typeface="Calibri" panose="020F0502020204030204" pitchFamily="34" charset="0"/>
              </a:rPr>
              <a:t> customers from </a:t>
            </a:r>
            <a:r>
              <a:rPr lang="en-US" sz="3200" i="1" dirty="0" err="1" smtClean="0">
                <a:latin typeface="Calibri" panose="020F0502020204030204" pitchFamily="34" charset="0"/>
              </a:rPr>
              <a:t>Tutong</a:t>
            </a:r>
            <a:r>
              <a:rPr lang="en-US" sz="3200" dirty="0" smtClean="0">
                <a:latin typeface="Calibri" panose="020F0502020204030204" pitchFamily="34" charset="0"/>
              </a:rPr>
              <a:t> District</a:t>
            </a:r>
            <a:endParaRPr lang="en-US" sz="3200" b="1" dirty="0">
              <a:latin typeface="Calibri" panose="020F050202020403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240114" y="1667436"/>
            <a:ext cx="9700413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i="1" dirty="0" smtClean="0">
                <a:latin typeface="Calibri" panose="020F0502020204030204" pitchFamily="34" charset="0"/>
              </a:rPr>
              <a:t>Female</a:t>
            </a:r>
            <a:r>
              <a:rPr lang="en-US" sz="3200" dirty="0" smtClean="0">
                <a:latin typeface="Calibri" panose="020F0502020204030204" pitchFamily="34" charset="0"/>
              </a:rPr>
              <a:t> Gender AND </a:t>
            </a:r>
            <a:r>
              <a:rPr lang="en-US" sz="3200" i="1" dirty="0" err="1" smtClean="0">
                <a:latin typeface="Calibri" panose="020F0502020204030204" pitchFamily="34" charset="0"/>
              </a:rPr>
              <a:t>Tutong</a:t>
            </a:r>
            <a:r>
              <a:rPr lang="en-US" sz="3200" dirty="0" smtClean="0">
                <a:latin typeface="Calibri" panose="020F0502020204030204" pitchFamily="34" charset="0"/>
              </a:rPr>
              <a:t> District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942" y="2442097"/>
            <a:ext cx="8914279" cy="10096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208" y="2949502"/>
            <a:ext cx="809625" cy="390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839" y="2955214"/>
            <a:ext cx="638175" cy="361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595942" y="3098199"/>
            <a:ext cx="501799" cy="2082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752" y="4832923"/>
            <a:ext cx="5324475" cy="12096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8633" y="3504608"/>
            <a:ext cx="6934200" cy="12001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55330" y="3514614"/>
            <a:ext cx="13374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</a:rPr>
              <a:t>If </a:t>
            </a:r>
            <a:r>
              <a:rPr lang="en-US" sz="1600" dirty="0" smtClean="0">
                <a:latin typeface="Calibri" panose="020F0502020204030204" pitchFamily="34" charset="0"/>
                <a:sym typeface="Wingdings" panose="05000000000000000000" pitchFamily="2" charset="2"/>
              </a:rPr>
              <a:t> </a:t>
            </a:r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(checked), repeating content is displayed</a:t>
            </a:r>
            <a:endParaRPr lang="en-US" sz="1600" dirty="0">
              <a:solidFill>
                <a:srgbClr val="00B0F0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65467" y="5008716"/>
            <a:ext cx="13374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</a:rPr>
              <a:t>If </a:t>
            </a:r>
            <a:r>
              <a:rPr lang="en-US" sz="1600" dirty="0" smtClean="0">
                <a:latin typeface="Calibri" panose="020F0502020204030204" pitchFamily="34" charset="0"/>
                <a:sym typeface="Wingdings" panose="05000000000000000000" pitchFamily="2" charset="2"/>
              </a:rPr>
              <a:t> </a:t>
            </a:r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(unchecked), field name is not displayed</a:t>
            </a:r>
            <a:endParaRPr lang="en-US" sz="1600" dirty="0">
              <a:solidFill>
                <a:srgbClr val="00B0F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5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1240114" y="882124"/>
            <a:ext cx="9420713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fiction </a:t>
            </a:r>
            <a:r>
              <a:rPr lang="en-US" sz="3200" dirty="0" smtClean="0">
                <a:latin typeface="Calibri" panose="020F0502020204030204" pitchFamily="34" charset="0"/>
              </a:rPr>
              <a:t>book with </a:t>
            </a:r>
            <a:r>
              <a:rPr lang="en-US" sz="3200" i="1" dirty="0" smtClean="0">
                <a:latin typeface="Calibri" panose="020F0502020204030204" pitchFamily="34" charset="0"/>
              </a:rPr>
              <a:t>hard cover</a:t>
            </a:r>
            <a:endParaRPr lang="en-US" sz="3200" b="1" dirty="0">
              <a:latin typeface="Calibri" panose="020F050202020403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240114" y="1667436"/>
            <a:ext cx="10281326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i="1" dirty="0" smtClean="0">
                <a:latin typeface="Calibri" panose="020F0502020204030204" pitchFamily="34" charset="0"/>
              </a:rPr>
              <a:t>Fiction</a:t>
            </a:r>
            <a:r>
              <a:rPr lang="en-US" sz="3200" dirty="0" smtClean="0">
                <a:latin typeface="Calibri" panose="020F0502020204030204" pitchFamily="34" charset="0"/>
              </a:rPr>
              <a:t> Category AND </a:t>
            </a:r>
            <a:r>
              <a:rPr lang="en-US" sz="3200" i="1" dirty="0" smtClean="0">
                <a:latin typeface="Calibri" panose="020F0502020204030204" pitchFamily="34" charset="0"/>
              </a:rPr>
              <a:t>Hard Cover</a:t>
            </a:r>
            <a:endParaRPr lang="en-US" sz="3200" i="1" dirty="0">
              <a:latin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664" y="2452748"/>
            <a:ext cx="29972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0614" y="4012606"/>
            <a:ext cx="2581834" cy="2151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80614" y="4953902"/>
            <a:ext cx="2581834" cy="2151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813" y="2530288"/>
            <a:ext cx="511607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9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/>
          <p:cNvSpPr txBox="1">
            <a:spLocks/>
          </p:cNvSpPr>
          <p:nvPr/>
        </p:nvSpPr>
        <p:spPr>
          <a:xfrm>
            <a:off x="1240114" y="882124"/>
            <a:ext cx="9420713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fiction </a:t>
            </a:r>
            <a:r>
              <a:rPr lang="en-US" sz="3200" dirty="0" smtClean="0">
                <a:latin typeface="Calibri" panose="020F0502020204030204" pitchFamily="34" charset="0"/>
              </a:rPr>
              <a:t>book with </a:t>
            </a:r>
            <a:r>
              <a:rPr lang="en-US" sz="3200" i="1" dirty="0" smtClean="0">
                <a:latin typeface="Calibri" panose="020F0502020204030204" pitchFamily="34" charset="0"/>
              </a:rPr>
              <a:t>hard cover</a:t>
            </a:r>
            <a:endParaRPr lang="en-US" sz="3200" b="1" dirty="0">
              <a:latin typeface="Calibri" panose="020F0502020204030204" pitchFamily="34" charset="0"/>
            </a:endParaRPr>
          </a:p>
        </p:txBody>
      </p:sp>
      <p:sp>
        <p:nvSpPr>
          <p:cNvPr id="22" name="Subtitle 2"/>
          <p:cNvSpPr txBox="1">
            <a:spLocks/>
          </p:cNvSpPr>
          <p:nvPr/>
        </p:nvSpPr>
        <p:spPr>
          <a:xfrm>
            <a:off x="1240114" y="1667436"/>
            <a:ext cx="10281326" cy="613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i="1" dirty="0" smtClean="0">
                <a:latin typeface="Calibri" panose="020F0502020204030204" pitchFamily="34" charset="0"/>
              </a:rPr>
              <a:t>Fiction</a:t>
            </a:r>
            <a:r>
              <a:rPr lang="en-US" sz="3200" dirty="0" smtClean="0">
                <a:latin typeface="Calibri" panose="020F0502020204030204" pitchFamily="34" charset="0"/>
              </a:rPr>
              <a:t> Category AND </a:t>
            </a:r>
            <a:r>
              <a:rPr lang="en-US" sz="3200" i="1" dirty="0" smtClean="0">
                <a:latin typeface="Calibri" panose="020F0502020204030204" pitchFamily="34" charset="0"/>
              </a:rPr>
              <a:t>Hard Cover</a:t>
            </a:r>
            <a:endParaRPr lang="en-US" sz="3200" i="1" dirty="0">
              <a:latin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639" y="2452748"/>
            <a:ext cx="7132320" cy="11887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703639" y="3238048"/>
            <a:ext cx="559399" cy="1936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220" y="3746355"/>
            <a:ext cx="6314739" cy="914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220" y="4898784"/>
            <a:ext cx="4310743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814396" y="3829758"/>
            <a:ext cx="1681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</a:rPr>
              <a:t>If </a:t>
            </a:r>
            <a:r>
              <a:rPr lang="en-US" sz="1600" dirty="0" smtClean="0">
                <a:latin typeface="Calibri" panose="020F0502020204030204" pitchFamily="34" charset="0"/>
                <a:sym typeface="Wingdings" panose="05000000000000000000" pitchFamily="2" charset="2"/>
              </a:rPr>
              <a:t> </a:t>
            </a:r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(checked), repeating content is displayed</a:t>
            </a:r>
            <a:endParaRPr lang="en-US" sz="1600" dirty="0">
              <a:solidFill>
                <a:srgbClr val="00B0F0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89239" y="4940486"/>
            <a:ext cx="1731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</a:rPr>
              <a:t>If </a:t>
            </a:r>
            <a:r>
              <a:rPr lang="en-US" sz="1600" dirty="0" smtClean="0">
                <a:latin typeface="Calibri" panose="020F0502020204030204" pitchFamily="34" charset="0"/>
                <a:sym typeface="Wingdings" panose="05000000000000000000" pitchFamily="2" charset="2"/>
              </a:rPr>
              <a:t> </a:t>
            </a:r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(unchecked), field name is not displayed</a:t>
            </a:r>
            <a:endParaRPr lang="en-US" sz="1600" dirty="0">
              <a:solidFill>
                <a:srgbClr val="00B0F0"/>
              </a:solidFill>
              <a:latin typeface="Calibri" panose="020F050202020403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4969" y="3076687"/>
            <a:ext cx="721070" cy="3892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630" y="3076687"/>
            <a:ext cx="677731" cy="38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1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806825" y="865089"/>
            <a:ext cx="10710728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customers</a:t>
            </a:r>
            <a:r>
              <a:rPr lang="en-US" sz="3200" dirty="0" smtClean="0">
                <a:latin typeface="Calibri" panose="020F0502020204030204" pitchFamily="34" charset="0"/>
              </a:rPr>
              <a:t> from </a:t>
            </a:r>
            <a:r>
              <a:rPr lang="en-US" sz="3200" i="1" dirty="0" err="1" smtClean="0">
                <a:latin typeface="Calibri" panose="020F0502020204030204" pitchFamily="34" charset="0"/>
              </a:rPr>
              <a:t>Tutong</a:t>
            </a:r>
            <a:r>
              <a:rPr lang="en-US" sz="3200" dirty="0" smtClean="0">
                <a:latin typeface="Calibri" panose="020F0502020204030204" pitchFamily="34" charset="0"/>
              </a:rPr>
              <a:t> or </a:t>
            </a:r>
            <a:r>
              <a:rPr lang="en-US" sz="3200" i="1" dirty="0" err="1" smtClean="0">
                <a:latin typeface="Calibri" panose="020F0502020204030204" pitchFamily="34" charset="0"/>
              </a:rPr>
              <a:t>Temburong</a:t>
            </a:r>
            <a:r>
              <a:rPr lang="en-US" sz="3200" dirty="0" smtClean="0">
                <a:latin typeface="Calibri" panose="020F0502020204030204" pitchFamily="34" charset="0"/>
              </a:rPr>
              <a:t> District</a:t>
            </a:r>
            <a:endParaRPr lang="en-US" sz="3200" b="1" dirty="0">
              <a:latin typeface="Calibri" panose="020F050202020403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806825" y="1461243"/>
            <a:ext cx="10710727" cy="9915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i="1" dirty="0" smtClean="0">
                <a:latin typeface="Calibri" panose="020F0502020204030204" pitchFamily="34" charset="0"/>
              </a:rPr>
              <a:t>Customers</a:t>
            </a:r>
            <a:r>
              <a:rPr lang="en-US" sz="3200" dirty="0" smtClean="0">
                <a:latin typeface="Calibri" panose="020F0502020204030204" pitchFamily="34" charset="0"/>
              </a:rPr>
              <a:t> from </a:t>
            </a:r>
            <a:r>
              <a:rPr lang="en-US" sz="3200" i="1" dirty="0" err="1">
                <a:latin typeface="Calibri" panose="020F0502020204030204" pitchFamily="34" charset="0"/>
              </a:rPr>
              <a:t>Tutong</a:t>
            </a:r>
            <a:r>
              <a:rPr lang="en-US" sz="3200" dirty="0">
                <a:latin typeface="Calibri" panose="020F0502020204030204" pitchFamily="34" charset="0"/>
              </a:rPr>
              <a:t> </a:t>
            </a:r>
            <a:r>
              <a:rPr lang="en-US" sz="3200" dirty="0" smtClean="0">
                <a:latin typeface="Calibri" panose="020F0502020204030204" pitchFamily="34" charset="0"/>
              </a:rPr>
              <a:t>OR </a:t>
            </a:r>
            <a:r>
              <a:rPr lang="en-US" sz="3200" i="1" dirty="0" err="1" smtClean="0">
                <a:latin typeface="Calibri" panose="020F0502020204030204" pitchFamily="34" charset="0"/>
              </a:rPr>
              <a:t>Temburong</a:t>
            </a:r>
            <a:r>
              <a:rPr lang="en-US" sz="3200" dirty="0" smtClean="0">
                <a:latin typeface="Calibri" panose="020F0502020204030204" pitchFamily="34" charset="0"/>
              </a:rPr>
              <a:t> District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341" y="2452748"/>
            <a:ext cx="2743200" cy="36576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678659" y="3824348"/>
            <a:ext cx="2334409" cy="2581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678659" y="4659854"/>
            <a:ext cx="2334409" cy="2581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859" y="2452748"/>
            <a:ext cx="46684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/>
          <p:cNvSpPr txBox="1">
            <a:spLocks/>
          </p:cNvSpPr>
          <p:nvPr/>
        </p:nvSpPr>
        <p:spPr>
          <a:xfrm>
            <a:off x="806825" y="588637"/>
            <a:ext cx="10671584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customers</a:t>
            </a:r>
            <a:r>
              <a:rPr lang="en-US" sz="3200" dirty="0" smtClean="0">
                <a:latin typeface="Calibri" panose="020F0502020204030204" pitchFamily="34" charset="0"/>
              </a:rPr>
              <a:t> from </a:t>
            </a:r>
            <a:r>
              <a:rPr lang="en-US" sz="3200" i="1" dirty="0" smtClean="0">
                <a:latin typeface="Calibri" panose="020F0502020204030204" pitchFamily="34" charset="0"/>
              </a:rPr>
              <a:t>Brunei-</a:t>
            </a:r>
            <a:r>
              <a:rPr lang="en-US" sz="3200" i="1" dirty="0" err="1" smtClean="0">
                <a:latin typeface="Calibri" panose="020F0502020204030204" pitchFamily="34" charset="0"/>
              </a:rPr>
              <a:t>Muara</a:t>
            </a:r>
            <a:r>
              <a:rPr lang="en-US" sz="3200" i="1" dirty="0" smtClean="0">
                <a:latin typeface="Calibri" panose="020F0502020204030204" pitchFamily="34" charset="0"/>
              </a:rPr>
              <a:t> </a:t>
            </a:r>
            <a:r>
              <a:rPr lang="en-US" sz="3200" dirty="0" smtClean="0">
                <a:latin typeface="Calibri" panose="020F0502020204030204" pitchFamily="34" charset="0"/>
              </a:rPr>
              <a:t>or </a:t>
            </a:r>
            <a:r>
              <a:rPr lang="en-US" sz="3200" i="1" dirty="0" err="1" smtClean="0">
                <a:latin typeface="Calibri" panose="020F0502020204030204" pitchFamily="34" charset="0"/>
              </a:rPr>
              <a:t>Temburong</a:t>
            </a:r>
            <a:r>
              <a:rPr lang="en-US" sz="3200" dirty="0" smtClean="0">
                <a:latin typeface="Calibri" panose="020F0502020204030204" pitchFamily="34" charset="0"/>
              </a:rPr>
              <a:t> District</a:t>
            </a:r>
            <a:endParaRPr lang="en-US" sz="3200" b="1" dirty="0">
              <a:latin typeface="Calibri" panose="020F0502020204030204" pitchFamily="34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806825" y="1461243"/>
            <a:ext cx="10564008" cy="99150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i="1" dirty="0" smtClean="0">
                <a:latin typeface="Calibri" panose="020F0502020204030204" pitchFamily="34" charset="0"/>
              </a:rPr>
              <a:t>Customers</a:t>
            </a:r>
            <a:r>
              <a:rPr lang="en-US" sz="3200" dirty="0" smtClean="0">
                <a:latin typeface="Calibri" panose="020F0502020204030204" pitchFamily="34" charset="0"/>
              </a:rPr>
              <a:t> from </a:t>
            </a:r>
            <a:r>
              <a:rPr lang="en-US" sz="3200" i="1" dirty="0" smtClean="0">
                <a:latin typeface="Calibri" panose="020F0502020204030204" pitchFamily="34" charset="0"/>
              </a:rPr>
              <a:t>Brunei-</a:t>
            </a:r>
            <a:r>
              <a:rPr lang="en-US" sz="3200" i="1" dirty="0" err="1" smtClean="0">
                <a:latin typeface="Calibri" panose="020F0502020204030204" pitchFamily="34" charset="0"/>
              </a:rPr>
              <a:t>Muara</a:t>
            </a:r>
            <a:r>
              <a:rPr lang="en-US" sz="3200" dirty="0" smtClean="0">
                <a:latin typeface="Calibri" panose="020F0502020204030204" pitchFamily="34" charset="0"/>
              </a:rPr>
              <a:t> OR </a:t>
            </a:r>
            <a:r>
              <a:rPr lang="en-US" sz="3200" i="1" dirty="0" err="1" smtClean="0">
                <a:latin typeface="Calibri" panose="020F0502020204030204" pitchFamily="34" charset="0"/>
              </a:rPr>
              <a:t>Temburong</a:t>
            </a:r>
            <a:r>
              <a:rPr lang="en-US" sz="3200" dirty="0" smtClean="0">
                <a:latin typeface="Calibri" panose="020F0502020204030204" pitchFamily="34" charset="0"/>
              </a:rPr>
              <a:t> District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79" y="2544077"/>
            <a:ext cx="9944100" cy="1009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09490" y="3205775"/>
            <a:ext cx="559399" cy="3479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021" y="3598952"/>
            <a:ext cx="7589520" cy="159164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916" y="4440875"/>
            <a:ext cx="6019800" cy="1733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356" y="4025377"/>
            <a:ext cx="1681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</a:rPr>
              <a:t>If </a:t>
            </a:r>
            <a:r>
              <a:rPr lang="en-US" sz="1600" dirty="0" smtClean="0">
                <a:latin typeface="Calibri" panose="020F0502020204030204" pitchFamily="34" charset="0"/>
                <a:sym typeface="Wingdings" panose="05000000000000000000" pitchFamily="2" charset="2"/>
              </a:rPr>
              <a:t> </a:t>
            </a:r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(checked), repeating content is displayed</a:t>
            </a:r>
            <a:endParaRPr lang="en-US" sz="1600" dirty="0">
              <a:solidFill>
                <a:srgbClr val="00B0F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71472" y="5275657"/>
            <a:ext cx="1731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</a:rPr>
              <a:t>If </a:t>
            </a:r>
            <a:r>
              <a:rPr lang="en-US" sz="1600" dirty="0" smtClean="0">
                <a:latin typeface="Calibri" panose="020F0502020204030204" pitchFamily="34" charset="0"/>
                <a:sym typeface="Wingdings" panose="05000000000000000000" pitchFamily="2" charset="2"/>
              </a:rPr>
              <a:t> </a:t>
            </a:r>
            <a:r>
              <a:rPr lang="en-US" sz="1600" dirty="0" smtClean="0">
                <a:solidFill>
                  <a:srgbClr val="00B0F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(unchecked), field name is not displayed</a:t>
            </a:r>
            <a:endParaRPr lang="en-US" sz="1600" dirty="0">
              <a:solidFill>
                <a:srgbClr val="00B0F0"/>
              </a:solidFill>
              <a:latin typeface="Calibri" panose="020F0502020204030204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829" y="3232758"/>
            <a:ext cx="790575" cy="1238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541" y="3379751"/>
            <a:ext cx="685800" cy="12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34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ubtitle 2"/>
          <p:cNvSpPr txBox="1">
            <a:spLocks/>
          </p:cNvSpPr>
          <p:nvPr/>
        </p:nvSpPr>
        <p:spPr>
          <a:xfrm>
            <a:off x="1185526" y="1044025"/>
            <a:ext cx="9953324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customer names</a:t>
            </a:r>
            <a:r>
              <a:rPr lang="en-US" sz="3200" dirty="0" smtClean="0">
                <a:latin typeface="Calibri" panose="020F0502020204030204" pitchFamily="34" charset="0"/>
              </a:rPr>
              <a:t> starts with </a:t>
            </a:r>
            <a:r>
              <a:rPr lang="en-US" sz="3200" i="1" dirty="0" smtClean="0">
                <a:latin typeface="Calibri" panose="020F0502020204030204" pitchFamily="34" charset="0"/>
              </a:rPr>
              <a:t>J</a:t>
            </a:r>
            <a:r>
              <a:rPr lang="en-US" sz="3200" dirty="0" smtClean="0">
                <a:latin typeface="Calibri" panose="020F0502020204030204" pitchFamily="34" charset="0"/>
              </a:rPr>
              <a:t> OR </a:t>
            </a:r>
            <a:r>
              <a:rPr lang="en-US" sz="3200" i="1" dirty="0" smtClean="0">
                <a:latin typeface="Calibri" panose="020F0502020204030204" pitchFamily="34" charset="0"/>
              </a:rPr>
              <a:t>M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1190843" y="1663263"/>
            <a:ext cx="9862943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i="1" dirty="0" smtClean="0">
                <a:latin typeface="Calibri" panose="020F0502020204030204" pitchFamily="34" charset="0"/>
              </a:rPr>
              <a:t>Customer names </a:t>
            </a:r>
            <a:r>
              <a:rPr lang="en-US" sz="3200" dirty="0">
                <a:latin typeface="Calibri" panose="020F0502020204030204" pitchFamily="34" charset="0"/>
              </a:rPr>
              <a:t>starts with </a:t>
            </a:r>
            <a:r>
              <a:rPr lang="en-US" sz="3200" i="1" dirty="0">
                <a:latin typeface="Calibri" panose="020F0502020204030204" pitchFamily="34" charset="0"/>
              </a:rPr>
              <a:t>J</a:t>
            </a:r>
            <a:r>
              <a:rPr lang="en-US" sz="3200" dirty="0">
                <a:latin typeface="Calibri" panose="020F0502020204030204" pitchFamily="34" charset="0"/>
              </a:rPr>
              <a:t> OR </a:t>
            </a:r>
            <a:r>
              <a:rPr lang="en-US" sz="3200" i="1" dirty="0">
                <a:latin typeface="Calibri" panose="020F0502020204030204" pitchFamily="34" charset="0"/>
              </a:rPr>
              <a:t>M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341" y="2452748"/>
            <a:ext cx="2743200" cy="36576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2678659" y="3824348"/>
            <a:ext cx="2334409" cy="2581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859" y="2452748"/>
            <a:ext cx="46684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0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185526" y="1044025"/>
            <a:ext cx="9953324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customer names</a:t>
            </a:r>
            <a:r>
              <a:rPr lang="en-US" sz="3200" dirty="0" smtClean="0">
                <a:latin typeface="Calibri" panose="020F0502020204030204" pitchFamily="34" charset="0"/>
              </a:rPr>
              <a:t> starts with </a:t>
            </a:r>
            <a:r>
              <a:rPr lang="en-US" sz="3200" i="1" dirty="0" smtClean="0">
                <a:latin typeface="Calibri" panose="020F0502020204030204" pitchFamily="34" charset="0"/>
              </a:rPr>
              <a:t>J</a:t>
            </a:r>
            <a:r>
              <a:rPr lang="en-US" sz="3200" dirty="0" smtClean="0">
                <a:latin typeface="Calibri" panose="020F0502020204030204" pitchFamily="34" charset="0"/>
              </a:rPr>
              <a:t> OR </a:t>
            </a:r>
            <a:r>
              <a:rPr lang="en-US" sz="3200" i="1" dirty="0" smtClean="0">
                <a:latin typeface="Calibri" panose="020F0502020204030204" pitchFamily="34" charset="0"/>
              </a:rPr>
              <a:t>M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1180210" y="1663263"/>
            <a:ext cx="9862943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i="1" dirty="0" smtClean="0">
                <a:latin typeface="Calibri" panose="020F0502020204030204" pitchFamily="34" charset="0"/>
              </a:rPr>
              <a:t>Customer names </a:t>
            </a:r>
            <a:r>
              <a:rPr lang="en-US" sz="3200" dirty="0">
                <a:latin typeface="Calibri" panose="020F0502020204030204" pitchFamily="34" charset="0"/>
              </a:rPr>
              <a:t>starts with </a:t>
            </a:r>
            <a:r>
              <a:rPr lang="en-US" sz="3200" i="1" dirty="0">
                <a:latin typeface="Calibri" panose="020F0502020204030204" pitchFamily="34" charset="0"/>
              </a:rPr>
              <a:t>J</a:t>
            </a:r>
            <a:r>
              <a:rPr lang="en-US" sz="3200" dirty="0">
                <a:latin typeface="Calibri" panose="020F0502020204030204" pitchFamily="34" charset="0"/>
              </a:rPr>
              <a:t> OR </a:t>
            </a:r>
            <a:r>
              <a:rPr lang="en-US" sz="3200" i="1" dirty="0">
                <a:latin typeface="Calibri" panose="020F0502020204030204" pitchFamily="34" charset="0"/>
              </a:rPr>
              <a:t>M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56" y="2658361"/>
            <a:ext cx="10144664" cy="1097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89856" y="3407689"/>
            <a:ext cx="559399" cy="3479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467" y="3411055"/>
            <a:ext cx="428625" cy="1333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771" y="3583922"/>
            <a:ext cx="466725" cy="123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522" y="3795158"/>
            <a:ext cx="8053331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57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08849" y="688026"/>
            <a:ext cx="9932059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Prompt the </a:t>
            </a:r>
            <a:r>
              <a:rPr lang="en-US" sz="3200" i="1" dirty="0">
                <a:latin typeface="Calibri" panose="020F0502020204030204" pitchFamily="34" charset="0"/>
              </a:rPr>
              <a:t>a</a:t>
            </a:r>
            <a:r>
              <a:rPr lang="en-US" sz="3200" i="1" dirty="0" smtClean="0">
                <a:latin typeface="Calibri" panose="020F0502020204030204" pitchFamily="34" charset="0"/>
              </a:rPr>
              <a:t>ge</a:t>
            </a:r>
            <a:r>
              <a:rPr lang="en-US" sz="3200" dirty="0" smtClean="0">
                <a:latin typeface="Calibri" panose="020F0502020204030204" pitchFamily="34" charset="0"/>
              </a:rPr>
              <a:t> of customer</a:t>
            </a:r>
            <a:endParaRPr lang="en-US" sz="3200" b="1" dirty="0">
              <a:latin typeface="Calibri" panose="020F0502020204030204" pitchFamily="34" charset="0"/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1008849" y="1296773"/>
            <a:ext cx="9932059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dirty="0" smtClean="0">
                <a:latin typeface="Calibri" panose="020F0502020204030204" pitchFamily="34" charset="0"/>
              </a:rPr>
              <a:t>Asks </a:t>
            </a:r>
            <a:r>
              <a:rPr lang="en-US" sz="3200" i="1" dirty="0" smtClean="0">
                <a:latin typeface="Calibri" panose="020F0502020204030204" pitchFamily="34" charset="0"/>
              </a:rPr>
              <a:t>age</a:t>
            </a:r>
            <a:r>
              <a:rPr lang="en-US" sz="3200" dirty="0" smtClean="0">
                <a:latin typeface="Calibri" panose="020F0502020204030204" pitchFamily="34" charset="0"/>
              </a:rPr>
              <a:t> of customer by entering the number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263" y="2452748"/>
            <a:ext cx="27432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78659" y="4394037"/>
            <a:ext cx="2334409" cy="2581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859" y="2452748"/>
            <a:ext cx="466847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336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78970" y="688026"/>
            <a:ext cx="9995853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Prompt the </a:t>
            </a:r>
            <a:r>
              <a:rPr lang="en-US" sz="3200" i="1" dirty="0">
                <a:latin typeface="Calibri" panose="020F0502020204030204" pitchFamily="34" charset="0"/>
              </a:rPr>
              <a:t>a</a:t>
            </a:r>
            <a:r>
              <a:rPr lang="en-US" sz="3200" i="1" dirty="0" smtClean="0">
                <a:latin typeface="Calibri" panose="020F0502020204030204" pitchFamily="34" charset="0"/>
              </a:rPr>
              <a:t>ge</a:t>
            </a:r>
            <a:r>
              <a:rPr lang="en-US" sz="3200" dirty="0" smtClean="0">
                <a:latin typeface="Calibri" panose="020F0502020204030204" pitchFamily="34" charset="0"/>
              </a:rPr>
              <a:t> of customer</a:t>
            </a:r>
            <a:endParaRPr lang="en-US" sz="3200" b="1" dirty="0">
              <a:latin typeface="Calibri" panose="020F050202020403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78970" y="1296773"/>
            <a:ext cx="9995853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dirty="0" smtClean="0">
                <a:latin typeface="Calibri" panose="020F0502020204030204" pitchFamily="34" charset="0"/>
              </a:rPr>
              <a:t>Asks </a:t>
            </a:r>
            <a:r>
              <a:rPr lang="en-US" sz="3200" i="1" dirty="0" smtClean="0">
                <a:latin typeface="Calibri" panose="020F0502020204030204" pitchFamily="34" charset="0"/>
              </a:rPr>
              <a:t>age</a:t>
            </a:r>
            <a:r>
              <a:rPr lang="en-US" sz="3200" dirty="0" smtClean="0">
                <a:latin typeface="Calibri" panose="020F0502020204030204" pitchFamily="34" charset="0"/>
              </a:rPr>
              <a:t> of customer by entering the number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317" y="2485728"/>
            <a:ext cx="10060109" cy="104428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09317" y="3163140"/>
            <a:ext cx="559399" cy="2071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104" y="3530009"/>
            <a:ext cx="2712493" cy="1371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191" y="3212988"/>
            <a:ext cx="752475" cy="114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3297" y="3212988"/>
            <a:ext cx="495300" cy="1143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9371" y="3530009"/>
            <a:ext cx="2743200" cy="13716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2310" y="4960042"/>
            <a:ext cx="9314122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8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008849" y="688026"/>
            <a:ext cx="9932059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Prompt the </a:t>
            </a:r>
            <a:r>
              <a:rPr lang="en-US" sz="3200" i="1" dirty="0" smtClean="0">
                <a:latin typeface="Calibri" panose="020F0502020204030204" pitchFamily="34" charset="0"/>
              </a:rPr>
              <a:t>category </a:t>
            </a:r>
            <a:r>
              <a:rPr lang="en-US" sz="3200" dirty="0" smtClean="0">
                <a:latin typeface="Calibri" panose="020F0502020204030204" pitchFamily="34" charset="0"/>
              </a:rPr>
              <a:t>of book</a:t>
            </a:r>
            <a:endParaRPr lang="en-US" sz="3200" b="1" dirty="0">
              <a:latin typeface="Calibri" panose="020F0502020204030204" pitchFamily="34" charset="0"/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1008849" y="1296773"/>
            <a:ext cx="9932059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dirty="0" smtClean="0">
                <a:latin typeface="Calibri" panose="020F0502020204030204" pitchFamily="34" charset="0"/>
              </a:rPr>
              <a:t>Asks </a:t>
            </a:r>
            <a:r>
              <a:rPr lang="en-US" sz="3200" i="1" dirty="0" smtClean="0">
                <a:latin typeface="Calibri" panose="020F0502020204030204" pitchFamily="34" charset="0"/>
              </a:rPr>
              <a:t>category </a:t>
            </a:r>
            <a:r>
              <a:rPr lang="en-US" sz="3200" dirty="0" smtClean="0">
                <a:latin typeface="Calibri" panose="020F0502020204030204" pitchFamily="34" charset="0"/>
              </a:rPr>
              <a:t>of book entering the category</a:t>
            </a:r>
            <a:endParaRPr lang="en-US" sz="3200" dirty="0">
              <a:latin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737" y="2477636"/>
            <a:ext cx="7177178" cy="11268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178429" y="3226935"/>
            <a:ext cx="559399" cy="2071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716" y="3273381"/>
            <a:ext cx="752475" cy="114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203" y="3273381"/>
            <a:ext cx="571500" cy="114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940" y="3636459"/>
            <a:ext cx="2486025" cy="12477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4680" y="3636583"/>
            <a:ext cx="2476500" cy="12477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3855" y="4952474"/>
            <a:ext cx="5581650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0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85526" y="1044025"/>
            <a:ext cx="9953324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books </a:t>
            </a:r>
            <a:r>
              <a:rPr lang="en-US" sz="3200" dirty="0" smtClean="0">
                <a:latin typeface="Calibri" panose="020F0502020204030204" pitchFamily="34" charset="0"/>
              </a:rPr>
              <a:t>with </a:t>
            </a:r>
            <a:r>
              <a:rPr lang="en-US" sz="3200" i="1" dirty="0" smtClean="0">
                <a:latin typeface="Calibri" panose="020F0502020204030204" pitchFamily="34" charset="0"/>
              </a:rPr>
              <a:t>prices</a:t>
            </a:r>
            <a:r>
              <a:rPr lang="en-US" sz="3200" dirty="0" smtClean="0">
                <a:latin typeface="Calibri" panose="020F0502020204030204" pitchFamily="34" charset="0"/>
              </a:rPr>
              <a:t> less than 20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90843" y="1663263"/>
            <a:ext cx="9862943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books </a:t>
            </a:r>
            <a:r>
              <a:rPr lang="en-US" sz="3200" dirty="0" smtClean="0">
                <a:latin typeface="Calibri" panose="020F0502020204030204" pitchFamily="34" charset="0"/>
              </a:rPr>
              <a:t>with </a:t>
            </a:r>
            <a:r>
              <a:rPr lang="en-US" sz="3200" i="1" dirty="0" smtClean="0">
                <a:latin typeface="Calibri" panose="020F0502020204030204" pitchFamily="34" charset="0"/>
              </a:rPr>
              <a:t>prices</a:t>
            </a:r>
            <a:r>
              <a:rPr lang="en-US" sz="3200" dirty="0" smtClean="0">
                <a:latin typeface="Calibri" panose="020F0502020204030204" pitchFamily="34" charset="0"/>
              </a:rPr>
              <a:t> &lt;  $20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068" y="2452748"/>
            <a:ext cx="29972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43751" y="4624293"/>
            <a:ext cx="2581834" cy="2151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157" y="2540920"/>
            <a:ext cx="511607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27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735" y="2502429"/>
            <a:ext cx="7783032" cy="1346556"/>
          </a:xfrm>
          <a:prstGeom prst="rect">
            <a:avLst/>
          </a:prstGeom>
        </p:spPr>
      </p:pic>
      <p:sp>
        <p:nvSpPr>
          <p:cNvPr id="3" name="Subtitle 2"/>
          <p:cNvSpPr txBox="1">
            <a:spLocks/>
          </p:cNvSpPr>
          <p:nvPr/>
        </p:nvSpPr>
        <p:spPr>
          <a:xfrm>
            <a:off x="1185526" y="1044025"/>
            <a:ext cx="9953324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books </a:t>
            </a:r>
            <a:r>
              <a:rPr lang="en-US" sz="3200" dirty="0" smtClean="0">
                <a:latin typeface="Calibri" panose="020F0502020204030204" pitchFamily="34" charset="0"/>
              </a:rPr>
              <a:t>with </a:t>
            </a:r>
            <a:r>
              <a:rPr lang="en-US" sz="3200" i="1" dirty="0" smtClean="0">
                <a:latin typeface="Calibri" panose="020F0502020204030204" pitchFamily="34" charset="0"/>
              </a:rPr>
              <a:t>prices</a:t>
            </a:r>
            <a:r>
              <a:rPr lang="en-US" sz="3200" dirty="0" smtClean="0">
                <a:latin typeface="Calibri" panose="020F0502020204030204" pitchFamily="34" charset="0"/>
              </a:rPr>
              <a:t> less than 20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90843" y="1663263"/>
            <a:ext cx="9862943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dirty="0" smtClean="0">
                <a:latin typeface="Calibri" panose="020F0502020204030204" pitchFamily="34" charset="0"/>
              </a:rPr>
              <a:t>List of </a:t>
            </a:r>
            <a:r>
              <a:rPr lang="en-US" sz="3200" i="1" dirty="0" smtClean="0">
                <a:latin typeface="Calibri" panose="020F0502020204030204" pitchFamily="34" charset="0"/>
              </a:rPr>
              <a:t>books </a:t>
            </a:r>
            <a:r>
              <a:rPr lang="en-US" sz="3200" dirty="0" smtClean="0">
                <a:latin typeface="Calibri" panose="020F0502020204030204" pitchFamily="34" charset="0"/>
              </a:rPr>
              <a:t>with </a:t>
            </a:r>
            <a:r>
              <a:rPr lang="en-US" sz="3200" i="1" dirty="0" smtClean="0">
                <a:latin typeface="Calibri" panose="020F0502020204030204" pitchFamily="34" charset="0"/>
              </a:rPr>
              <a:t>prices</a:t>
            </a:r>
            <a:r>
              <a:rPr lang="en-US" sz="3200" dirty="0" smtClean="0">
                <a:latin typeface="Calibri" panose="020F0502020204030204" pitchFamily="34" charset="0"/>
              </a:rPr>
              <a:t> &lt;  $20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31594" y="3354527"/>
            <a:ext cx="559399" cy="2071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712" y="3409951"/>
            <a:ext cx="238095" cy="118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786" y="3848985"/>
            <a:ext cx="648822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28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85526" y="1044025"/>
            <a:ext cx="9953324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copy of </a:t>
            </a:r>
            <a:r>
              <a:rPr lang="en-US" sz="3200" i="1" dirty="0" smtClean="0">
                <a:latin typeface="Calibri" panose="020F0502020204030204" pitchFamily="34" charset="0"/>
              </a:rPr>
              <a:t>books </a:t>
            </a:r>
            <a:r>
              <a:rPr lang="en-US" sz="3200" dirty="0" smtClean="0">
                <a:latin typeface="Calibri" panose="020F0502020204030204" pitchFamily="34" charset="0"/>
              </a:rPr>
              <a:t>left for loaning 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90843" y="1663263"/>
            <a:ext cx="9862943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dirty="0" smtClean="0">
                <a:latin typeface="Calibri" panose="020F0502020204030204" pitchFamily="34" charset="0"/>
              </a:rPr>
              <a:t>Number of copies book left in stock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068" y="2452748"/>
            <a:ext cx="299720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43751" y="5241588"/>
            <a:ext cx="2581834" cy="2151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157" y="2540920"/>
            <a:ext cx="5116072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47289" y="5532217"/>
            <a:ext cx="2581834" cy="21514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7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185526" y="1044025"/>
            <a:ext cx="9953324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copy of </a:t>
            </a:r>
            <a:r>
              <a:rPr lang="en-US" sz="3200" i="1" dirty="0" smtClean="0">
                <a:latin typeface="Calibri" panose="020F0502020204030204" pitchFamily="34" charset="0"/>
              </a:rPr>
              <a:t>books </a:t>
            </a:r>
            <a:r>
              <a:rPr lang="en-US" sz="3200" dirty="0" smtClean="0">
                <a:latin typeface="Calibri" panose="020F0502020204030204" pitchFamily="34" charset="0"/>
              </a:rPr>
              <a:t>left for loaning 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1190843" y="1663263"/>
            <a:ext cx="9862943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dirty="0" smtClean="0">
                <a:latin typeface="Calibri" panose="020F0502020204030204" pitchFamily="34" charset="0"/>
              </a:rPr>
              <a:t>Number of copies book left in stock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314" y="3113259"/>
            <a:ext cx="6212544" cy="1371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793" y="3198664"/>
            <a:ext cx="2275840" cy="1191126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7922216" y="3505600"/>
            <a:ext cx="2827421" cy="1762585"/>
            <a:chOff x="8318822" y="1551792"/>
            <a:chExt cx="2827421" cy="1762585"/>
          </a:xfrm>
        </p:grpSpPr>
        <p:sp>
          <p:nvSpPr>
            <p:cNvPr id="6" name="TextBox 5"/>
            <p:cNvSpPr txBox="1"/>
            <p:nvPr/>
          </p:nvSpPr>
          <p:spPr>
            <a:xfrm>
              <a:off x="8318822" y="2975823"/>
              <a:ext cx="28274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b="1" dirty="0" smtClean="0">
                  <a:latin typeface="Calibri" panose="020F0502020204030204" pitchFamily="34" charset="0"/>
                  <a:cs typeface="Calibri" panose="020F0502020204030204" pitchFamily="34" charset="0"/>
                </a:rPr>
                <a:t>Copy Left: [Copy in]-[Copy Out]</a:t>
              </a:r>
              <a:endParaRPr lang="en-US" sz="16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rot="5400000">
              <a:off x="9001012" y="2283312"/>
              <a:ext cx="146304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283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185526" y="1044025"/>
            <a:ext cx="9953324" cy="6131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Question? </a:t>
            </a:r>
            <a:r>
              <a:rPr lang="en-US" sz="3200" dirty="0" smtClean="0">
                <a:latin typeface="Calibri" panose="020F0502020204030204" pitchFamily="34" charset="0"/>
              </a:rPr>
              <a:t>List of copy of </a:t>
            </a:r>
            <a:r>
              <a:rPr lang="en-US" sz="3200" i="1" dirty="0" smtClean="0">
                <a:latin typeface="Calibri" panose="020F0502020204030204" pitchFamily="34" charset="0"/>
              </a:rPr>
              <a:t>books </a:t>
            </a:r>
            <a:r>
              <a:rPr lang="en-US" sz="3200" dirty="0" smtClean="0">
                <a:latin typeface="Calibri" panose="020F0502020204030204" pitchFamily="34" charset="0"/>
              </a:rPr>
              <a:t>left for loaning 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sp>
        <p:nvSpPr>
          <p:cNvPr id="3" name="Subtitle 2"/>
          <p:cNvSpPr txBox="1">
            <a:spLocks/>
          </p:cNvSpPr>
          <p:nvPr/>
        </p:nvSpPr>
        <p:spPr>
          <a:xfrm>
            <a:off x="1190843" y="1663263"/>
            <a:ext cx="9862943" cy="5802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 smtClean="0">
                <a:latin typeface="Calibri" panose="020F0502020204030204" pitchFamily="34" charset="0"/>
              </a:rPr>
              <a:t>Re-Phrase Question: </a:t>
            </a:r>
            <a:r>
              <a:rPr lang="en-US" sz="3200" dirty="0" smtClean="0">
                <a:latin typeface="Calibri" panose="020F0502020204030204" pitchFamily="34" charset="0"/>
              </a:rPr>
              <a:t>Number of copies book left in stock</a:t>
            </a:r>
            <a:endParaRPr lang="en-US" sz="3200" b="1" i="1" dirty="0">
              <a:latin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010" y="2491755"/>
            <a:ext cx="88296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7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3210" y="2713396"/>
            <a:ext cx="9601196" cy="1303867"/>
          </a:xfrm>
        </p:spPr>
        <p:txBody>
          <a:bodyPr>
            <a:noAutofit/>
          </a:bodyPr>
          <a:lstStyle/>
          <a:p>
            <a:r>
              <a:rPr lang="en-US" sz="8000" dirty="0" smtClean="0">
                <a:latin typeface="Albertus Medium" panose="020E0602030304020304" pitchFamily="34" charset="0"/>
              </a:rPr>
              <a:t>ANY QUESTION ?</a:t>
            </a:r>
            <a:endParaRPr lang="en-US" sz="8000" dirty="0">
              <a:latin typeface="Albertus Medium" panose="020E0602030304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40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897</TotalTime>
  <Words>513</Words>
  <Application>Microsoft Office PowerPoint</Application>
  <PresentationFormat>Widescreen</PresentationFormat>
  <Paragraphs>61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Albertus Medium</vt:lpstr>
      <vt:lpstr>Arial</vt:lpstr>
      <vt:lpstr>Calibri</vt:lpstr>
      <vt:lpstr>Garamond</vt:lpstr>
      <vt:lpstr>Wingdings</vt:lpstr>
      <vt:lpstr>Organic</vt:lpstr>
      <vt:lpstr>USING MICROSOFT ACCESS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ANY QUESTION 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Lizan Nal</dc:creator>
  <cp:lastModifiedBy>Lizan Nal</cp:lastModifiedBy>
  <cp:revision>77</cp:revision>
  <dcterms:created xsi:type="dcterms:W3CDTF">2017-07-31T04:08:35Z</dcterms:created>
  <dcterms:modified xsi:type="dcterms:W3CDTF">2017-08-20T23:40:39Z</dcterms:modified>
</cp:coreProperties>
</file>